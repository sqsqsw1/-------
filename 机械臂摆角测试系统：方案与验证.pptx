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本次汇报将聚焦于机械臂摆角测试系统的方案设计与仿真验证。我们将详细介绍系统的硬件选型、软件实现，并通过MATLAB仿真深入分析系统的动态性能与精度。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本次汇报分为两大部分。首先，我们将详细解读测试系统的整体方案，包括其架构、核心硬件选型和软件实现思路。接着，我们将展示系统的仿真模型，并通过一系列仿真分析来验证设计的合理性与性能。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现在，我们进入第一部分：测试系统方案的详细介绍。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设计的测试系统总体架构。信号从直流电机驱动的机械臂开始，经过电位器转换为电压信号，再由信号调理电路进行放大和滤波，最后通过ADC采集并在上位机中处理，最终得到精确的角度值。整个流程清晰完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在硬件选型上，我们选择旋转电位器作为角度传感器。它的频率特性完全满足我们的低频测量需求，其一阶惯性模型也与课程理论紧密结合，同时成本低廉，是教学实验的理想选择。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信号调理电路采用两级结构。第一级使用仪表放大器提供10倍增益，确保信号强度。第二级是一个100Hz截止频率的二阶巴特沃斯低通滤波器，用于滤除高频噪声，保证信号的纯净度。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数据采集模块我们选用MCP3202，一款12位的SPI接口ADC。它的电压分辨率约为1.22毫伏，1000Hz的采样率也完全满足采样定理的要求，能够将模拟信号精确地转换为数字信号。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软件方面，我们在MATLAB环境中进行仿真。通过将各个环节建模为传递函数并串联，我们构建了完整的系统模型。利用MATLAB的控制系统工具箱，我们可以方便地进行时域和频域分析，从而验证系统性能。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接下来，我们进入第二部分，通过仿真模型对我们的设计进行全面验证。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建立的系统数学模型。机械臂、传感器和信号调理电路各自的传递函数被串联起来，形成一个五阶的系统总模型。通过分析极点分布，我们确认除了原点的积分环节外，所有极点都在左半平面，因此系统是稳定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仿真结果显示，系统的时域响应非常出色，上升时间仅0.153秒，超调量小于4%，能快速稳定。频域分析表明，系统带宽约为2.5Hz，相位裕度大于60度，兼顾了响应速度和高稳定性。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误差分析。我们发现，ADC量化引入的误差远小于测量噪声，系统的主要误差来源是电位器自身的非线性度。综合来看，系统的综合精度约为正负0.31度。最终结论是，仿真验证了我们设计方案的合理性与可行性，系统性能满足设计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7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1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22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9.svg"/><Relationship Id="rId4" Type="http://schemas.openxmlformats.org/officeDocument/2006/relationships/image" Target="../media/image2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机械臂摆角测试系统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方案设计与仿真验证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5524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5331254">
            <a:off x="5778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477000" y="5524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76200" cy="330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603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测试系统方案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143009" y="380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4191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从系统整体架构出发，深度解析核心硬件选型逻辑，涵盖高精度传感器、信号调理电路与ADC模数转换模块的参数匹配；同时阐述软件实现的核心流程与关键算法设计，确保系统功能的完整性与稳定性。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76200" cy="330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2603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仿真模型验证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822">
            <a:off x="6604009" y="380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4191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基于理论建立系统数学模型，通过时域与频域分析完成性能仿真，结合仿真数据开展误差来源评估与量化分析，最终形成模型有效性的验证结论，为实际系统搭建提供科学依据。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6070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60706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以“方案设计-仿真验证”为核心逻辑，构建完整的测试系统闭环体系，确保技术落地的可行性。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FF6A00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测试系统方案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596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836484"/>
            <a:ext cx="4826000" cy="34390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系统遵循“物理量 → 模拟电量 → 数字量 → 角度值”的全链路信号变换逻辑，各环节紧密耦合，构建了从执行驱动到数据还原的完整闭环体系。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3746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223000" y="1905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095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2057400"/>
            <a:ext cx="196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机械臂执行环节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582">
            <a:off x="64135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采用直流电机作为核心驱动单元，精准接收控制电压信号，将其高效转换为机械摆角位移，是系统的物理执行端。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44000" y="1905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0" y="2095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779000" y="2057400"/>
            <a:ext cx="196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传感信号转换环节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8582">
            <a:off x="9334517" y="2660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334500" y="2857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利用高精度旋转电位器，实时捕获机械臂的角位移变化，将物理角度信息线性转化为连续的模拟电压信号输出。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4381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343400"/>
            <a:ext cx="196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模拟信号调理环节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8582">
            <a:off x="64135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13500" y="514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通过专用调理电路完成信号放大与噪声滤波，有效抑制干扰，并将电压信号校准至模数转换的标准量程范围。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44000" y="4191000"/>
            <a:ext cx="273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144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4381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779000" y="4343400"/>
            <a:ext cx="196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数据采集与还原环节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8582">
            <a:off x="9334517" y="4946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334500" y="514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经由ADC完成模数转换后，上位机对数字信号进行算法解算与误差补偿，最终精准还原并显示实际的机械角度值。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硬件选型：角度传感器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714" b="10714"/>
          <a:stretch>
            <a:fillRect/>
          </a:stretch>
        </p:blipFill>
        <p:spPr>
          <a:xfrm>
            <a:off x="762000" y="2159000"/>
            <a:ext cx="3556000" cy="2794000"/>
          </a:xfrm>
          <a:prstGeom prst="rect">
            <a:avLst/>
          </a:prstGeom>
          <a:noFill/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选用 VISHAY 精密旋转电位器，结构紧凑，输出线性度高，非常适合作为教学实验的角度检测元件。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2730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207000" y="2159000"/>
            <a:ext cx="62230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07000" y="2159000"/>
            <a:ext cx="76200" cy="1016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461000" y="2260600"/>
            <a:ext cx="571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选型结论：</a:t>
            </a:r>
            <a:r>
              <a:rPr lang="en-US" sz="2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旋转电位器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综合信号特性、理论模型匹配度与实验成本，旋转电位器是本教学系统的最优角度传感方案。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207000" y="3556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368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3683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频率匹配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334000" y="4191000"/>
            <a:ext cx="172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截止频率15.9 Hz，显著高于被测信号最高频率10 Hz，可完整复现低频信号特征。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15200" y="3556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2200" y="3683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23200" y="3683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模型匹配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42200" y="4191000"/>
            <a:ext cx="172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具备标准的一阶惯性环节数学模型，便于将硬件特性与控制理论课程内容深度衔接。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23400" y="3556000"/>
            <a:ext cx="1981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50400" y="368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931400" y="3683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高性价比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50400" y="4191000"/>
            <a:ext cx="172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器件成本低廉，且不易损坏，非常适合高校实验室大批量采购与学生反复实操使用。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7015">
            <a:off x="5207006" y="53276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5207000" y="5524500"/>
            <a:ext cx="198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灵敏度 (Ks)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1.0 V/rad</a:t>
            </a:r>
          </a:p>
        </p:txBody>
      </p:sp>
      <p:cxnSp>
        <p:nvCxnSpPr>
          <p:cNvPr id="24" name="Connector 24"/>
          <p:cNvCxnSpPr/>
          <p:nvPr/>
        </p:nvCxnSpPr>
        <p:spPr>
          <a:xfrm rot="5331254">
            <a:off x="6921500" y="5899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315200" y="5524500"/>
            <a:ext cx="198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时间常数 (τs)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0.01 s</a:t>
            </a:r>
          </a:p>
        </p:txBody>
      </p:sp>
      <p:cxnSp>
        <p:nvCxnSpPr>
          <p:cNvPr id="26" name="Connector 26"/>
          <p:cNvCxnSpPr/>
          <p:nvPr/>
        </p:nvCxnSpPr>
        <p:spPr>
          <a:xfrm rot="5331254">
            <a:off x="9029700" y="5899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423400" y="5524500"/>
            <a:ext cx="198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截止频率 (fc,s)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≈ 15.9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硬件选型：信号调理电路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19531" b="19531"/>
          <a:stretch>
            <a:fillRect/>
          </a:stretch>
        </p:blipFill>
        <p:spPr>
          <a:xfrm>
            <a:off x="762000" y="1905000"/>
            <a:ext cx="4064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546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高精度SMT印刷电路板实物特写，采用模块化布局设计，有效减少布线干扰，保障信号传输的稳定性与准确性。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9889">
            <a:off x="3302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842000" y="1905000"/>
            <a:ext cx="55880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10000"/>
            </a:srgbClr>
          </a:solidFill>
          <a:ln w="12700" cap="flat" cmpd="sng">
            <a:solidFill>
              <a:srgbClr val="FF6A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209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604000" y="20320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两级级联核心架构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采用“仪表放大器 + 二阶有源低通滤波器”的经典组合，兼顾信号放大增益与噪声滤除能力，适配传感器弱信号采集需求。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842000" y="3556000"/>
            <a:ext cx="273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842000" y="3556000"/>
            <a:ext cx="273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3810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477000" y="3784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第一级：仪表放大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8582">
            <a:off x="6032517" y="437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032500" y="4572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选用INA128芯片，提供高输入阻抗与精确增益。固定增益设置为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G = 10</a:t>
            </a: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，有效放大微弱传感器信号，提升信噪比。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699500" y="3556000"/>
            <a:ext cx="273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699500" y="3556000"/>
            <a:ext cx="27305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381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334500" y="37846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第二级：低通滤波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8582">
            <a:off x="8890017" y="4375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890000" y="4572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采用Sallen-Key拓扑，截止频率</a:t>
            </a:r>
            <a:r>
              <a:rPr 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fc = 100 Hz</a:t>
            </a: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，阻尼比ζ=0.707（巴特沃斯特性），抑制高频噪声，防止ADC采样混叠失真。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硬件选型：数据采集模块 (ADC)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7142" b="7142"/>
          <a:stretch>
            <a:fillRect/>
          </a:stretch>
        </p:blipFill>
        <p:spPr>
          <a:xfrm>
            <a:off x="762000" y="2159000"/>
            <a:ext cx="355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图示为高精度模数转换芯片实物，采用精密封装工艺，确保模拟信号到数字信号的稳定转换。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2984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588000" y="2159000"/>
            <a:ext cx="5842000" cy="1143000"/>
          </a:xfrm>
          <a:prstGeom prst="roundRect">
            <a:avLst>
              <a:gd name="adj" fmla="val 0"/>
            </a:avLst>
          </a:prstGeom>
          <a:solidFill>
            <a:srgbClr val="FF6A00">
              <a:alpha val="10000"/>
            </a:srgbClr>
          </a:solidFill>
          <a:ln w="12700" cap="flat" cmpd="sng">
            <a:solidFill>
              <a:srgbClr val="FF6A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842000" y="2286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最终选型方案：</a:t>
            </a:r>
            <a:r>
              <a:rPr lang="en-US" sz="2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MCP3202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一款高性能、低功耗的12位逐次逼近型模数转换器，完美适配系统的信号采集需求。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588000" y="3810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3937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12-bit 分辨率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具备4096个量化等级，可精准捕捉微小电压变化，保障信号细节完整。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636000" y="3810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5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271000" y="3937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SPI 串行接口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三线串行接口设计，占用IO资源少，通信速率高，易于与主控芯片集成。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588000" y="5080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5270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223000" y="5207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5.0V 参考电压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电压分辨率约1.22mV，输入范围稳定，为信号量化提供可靠基准。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636000" y="5080000"/>
            <a:ext cx="279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26500" y="527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271000" y="5207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1000Hz 采样率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远高于20Hz奈奎斯特频率，完全满足采样定理，避免信号混叠失真。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软件实现方案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11407" b="11407"/>
          <a:stretch>
            <a:fillRect/>
          </a:stretch>
        </p:blipFill>
        <p:spPr>
          <a:xfrm>
            <a:off x="762000" y="1778000"/>
            <a:ext cx="3302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62000" y="45720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69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仿真环境与核心工具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28">
            <a:off x="952514" y="5200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533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MATLAB R2016b+ 构建系统，依托 Control System Toolbox 与 Signal Processing Toolbox 完成核心算法开发与验证。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889">
            <a:off x="2413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953000" y="1905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0" y="2095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651500" y="2057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环节建模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278">
            <a:off x="5143514" y="2660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143500" y="28575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将机械臂动力学、传感器特性及电路响应等系统关键环节，统一抽象并转化为标准的传递函数模型，为系统分析奠定基础。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1905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2500" y="2095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80500" y="2057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系统串联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78">
            <a:off x="8572514" y="2660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572500" y="28575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依据信号流向，将各独立环节的传递函数进行数学串联，构建完整、闭环的系统整体模型，还原真实的物理信号链路。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53000" y="4191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0" y="4381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651500" y="4343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响应仿真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5278">
            <a:off x="5143514" y="4946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143500" y="51435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 step()、lsim()、bode() 等核心函数，开展时域阶跃响应与频域波特图分析，全方位验证系统的动态与稳态特性。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4191000"/>
            <a:ext cx="3238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2500" y="4381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080500" y="4343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量化分析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5278">
            <a:off x="8572514" y="49466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572500" y="5143500"/>
            <a:ext cx="285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 ADC 量化过程引入的误差，分析信噪比、失真度等关键性能指标，优化系统参数以提升整体鲁棒性与精度。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270000"/>
            <a:ext cx="12192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0" b="1" i="0" u="none" strike="noStrike">
                <a:solidFill>
                  <a:srgbClr val="FF6A00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仿真模型验证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584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0" y="5829300"/>
            <a:ext cx="762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035800" y="5829300"/>
            <a:ext cx="76200" cy="76200"/>
          </a:xfrm>
          <a:prstGeom prst="roundRect">
            <a:avLst>
              <a:gd name="adj" fmla="val 0"/>
            </a:avLst>
          </a:prstGeom>
          <a:solidFill>
            <a:srgbClr val="FF6A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系统数学模型 (传递函数)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416403"/>
            <a:ext cx="3238500" cy="36658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图示为单关节机械臂的简化动力学结构，明确了转轴、臂长(L)与末端质量(m)的物理关系，是推导系统传递函数的基础依据。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2730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207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500" y="209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842000" y="2057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机械臂动力学 (G₁(s))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5989">
            <a:off x="5397515" y="2597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397500" y="2794000"/>
            <a:ext cx="273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17.78 / [ s · (s + 1.11) ]</a:t>
            </a:r>
            <a:b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描述关节运动的二阶动力学特性。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09000" y="1905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500" y="209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057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角度传感器 (G₂(s))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989">
            <a:off x="8699515" y="2597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699500" y="2794000"/>
            <a:ext cx="2730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1.0 / (0.01s + 1)</a:t>
            </a:r>
            <a:b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一阶惯性环节，表征传感器的响应特性。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3937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412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842000" y="4089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信号调理电路 (G₃(s))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989">
            <a:off x="5397515" y="4629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397500" y="4762500"/>
            <a:ext cx="273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3.948×10⁶ / (s² + 888.6s + 3.948×10⁵)</a:t>
            </a:r>
            <a:b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二阶振荡环节，实现信号滤波与放大。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509000" y="3937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9500" y="4127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4089400"/>
            <a:ext cx="234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系统总传递函数 (G_total)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5989">
            <a:off x="8699515" y="4629150"/>
            <a:ext cx="273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699500" y="4762500"/>
            <a:ext cx="273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G₁(s) · G₂(s) · G₃(s)</a:t>
            </a:r>
            <a:b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各环节串联构成五阶系统，完整描述输入输出关系。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207000" y="5842000"/>
            <a:ext cx="64135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"/>
            </a:srgbClr>
          </a:solidFill>
          <a:ln w="12700" cap="flat" cmpd="sng">
            <a:solidFill>
              <a:srgbClr val="FF6A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7500" y="6007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969000" y="5943600"/>
            <a:ext cx="546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系统稳定性判定：所有极点均位于s平面左半平面（原点积分环节除外），系统满足稳定判据，运行鲁棒性强。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时域与频域响应分析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50"/>
          <a:stretch>
            <a:fillRect/>
          </a:stretch>
        </p:blipFill>
        <p:spPr>
          <a:xfrm>
            <a:off x="1249484" y="1651000"/>
            <a:ext cx="4230967" cy="292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01. 时域响应 (阶跃输入)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5524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上升时间 (tr)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0.153 s</a:t>
            </a:r>
          </a:p>
        </p:txBody>
      </p:sp>
      <p:sp>
        <p:nvSpPr>
          <p:cNvPr id="9" name="AutoShape 9"/>
          <p:cNvSpPr/>
          <p:nvPr/>
        </p:nvSpPr>
        <p:spPr>
          <a:xfrm>
            <a:off x="2540000" y="5461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540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667000" y="5524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超调量 (σ%)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3.85%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18000" y="5461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18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55245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调节时间 (ts)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0.308 s</a:t>
            </a:r>
          </a:p>
        </p:txBody>
      </p:sp>
      <p:cxnSp>
        <p:nvCxnSpPr>
          <p:cNvPr id="15" name="Connector 15"/>
          <p:cNvCxnSpPr/>
          <p:nvPr/>
        </p:nvCxnSpPr>
        <p:spPr>
          <a:xfrm rot="5390450">
            <a:off x="40005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19976" y="1651000"/>
            <a:ext cx="4121047" cy="308315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477000" y="4826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02. 频域响应 (Bode图分析)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461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55245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-3dB 带宽 (系统通频带)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≈ 2.5 Hz</a:t>
            </a: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(满足低频需求)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144000" y="5461000"/>
            <a:ext cx="254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144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271000" y="55245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相位裕度 (系统稳定性指标)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&gt; 60°</a:t>
            </a: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(高稳定裕度)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误差分析与仿真结论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6A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95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量化效应误差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1016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角度量化分辨率达</a:t>
            </a: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0.007°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，引入的量化误差极小，对系统整体精度影响可忽略不计。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1905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2095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噪声干扰影响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826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8260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系统信噪比 (SNR) 约为</a:t>
            </a: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45 dB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，具备良好的抗环境噪声干扰能力，有效保障信号质量。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381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核心误差来源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1016013" y="494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经分析，系统最大误差源于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电位器的非线性度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，其偏差范围约为 ±0.30°，是影响精度的关键因素。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41910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57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334000" y="4381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系统综合精度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4826013" y="494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8260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综合量化、噪声及非线性误差，系统最终的整体测量精度约为</a:t>
            </a:r>
            <a:r>
              <a:rPr lang="en-US" sz="16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±0.31°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，满足预期指标要求。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89738">
            <a:off x="6254750" y="40259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636000" y="1905000"/>
            <a:ext cx="3048000" cy="4254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0" y="2159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525000" y="2159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仿真结论验证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7188">
            <a:off x="8890016" y="2978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6A00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" name="AutoShape 33"/>
          <p:cNvSpPr/>
          <p:nvPr/>
        </p:nvSpPr>
        <p:spPr>
          <a:xfrm>
            <a:off x="8890000" y="3302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MATLAB 的仿真结果与理论分析高度吻合，充分验证了系统设计方案的</a:t>
            </a:r>
            <a:r>
              <a:rPr lang="en-US" sz="14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合理性与可行性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，各项参数均达到预设标准。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7188">
            <a:off x="8890016" y="5073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8890000" y="5207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系统整体表现出响应迅速、稳定性强、低频跟踪精度高的特点，完全满足项目设计需求。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欢迎各位提问与交流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宽屏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承泽 李</cp:lastModifiedBy>
  <cp:revision>1</cp:revision>
  <dcterms:modified xsi:type="dcterms:W3CDTF">2026-06-03T09:13:18Z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{"Label":"1","ContentProducer":"001191110102MACQD9K64010000","ProduceID":"7647083874971913427","ReservedCode1":"","ContentPropagator":"","PropagateID":"","ReservedCode2":""}</vt:lpwstr>
  </property>
</Properties>
</file>